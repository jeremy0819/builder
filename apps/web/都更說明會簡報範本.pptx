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1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82735" y="603504"/>
            <a:ext cx="2286000" cy="420624"/>
          </a:xfrm>
          <a:prstGeom prst="roundRect">
            <a:avLst/>
          </a:prstGeom>
          <a:noFill/>
          <a:ln w="12700">
            <a:solidFill>
              <a:srgbClr val="3E8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82735" y="640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150" b="1">
                <a:solidFill>
                  <a:srgbClr val="A7F3D0"/>
                </a:solidFill>
                <a:latin typeface="Inter"/>
                <a:ea typeface="Microsoft JhengHei"/>
                <a:cs typeface="Microsoft JhengHei"/>
              </a:rPr>
              <a:t>說明會簡報 · 範本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spc="240">
                <a:solidFill>
                  <a:srgbClr val="A7F3D0"/>
                </a:solidFill>
                <a:latin typeface="Inter"/>
                <a:ea typeface="Microsoft JhengHei"/>
                <a:cs typeface="Microsoft JhengHei"/>
              </a:rPr>
              <a:t>都市更新 · 危老重建　住戶說明會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688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Noto Serif TC"/>
                <a:ea typeface="Microsoft JhengHei"/>
                <a:cs typeface="Microsoft JhengHei"/>
              </a:rPr>
              <a:t>與您一起，把老屋變成安心的家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D8E6DF"/>
                </a:solidFill>
                <a:latin typeface="Inter"/>
                <a:ea typeface="Microsoft JhengHei"/>
                <a:cs typeface="Microsoft JhengHei"/>
              </a:rPr>
              <a:t>本簡報為制式架構範本，帶您一次看懂：為何更新、如何進行、權益如何保障，以及您每一步該確認什麼。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949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9FBAAC"/>
                </a:solidFill>
                <a:latin typeface="Inter"/>
                <a:ea typeface="Microsoft JhengHei"/>
                <a:cs typeface="Microsoft JhengHei"/>
              </a:rPr>
              <a:t>案　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692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〔案名／門牌範圍〕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3949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9FBAAC"/>
                </a:solidFill>
                <a:latin typeface="Inter"/>
                <a:ea typeface="Microsoft JhengHei"/>
                <a:cs typeface="Microsoft JhengHei"/>
              </a:rPr>
              <a:t>實施者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6692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〔更新會／實施者〕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3949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9FBAAC"/>
                </a:solidFill>
                <a:latin typeface="Inter"/>
                <a:ea typeface="Microsoft JhengHei"/>
                <a:cs typeface="Microsoft JhengHei"/>
              </a:rPr>
              <a:t>日　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6692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〔YYYY/MM/DD〕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3949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9FBAAC"/>
                </a:solidFill>
                <a:latin typeface="Inter"/>
                <a:ea typeface="Microsoft JhengHei"/>
                <a:cs typeface="Microsoft JhengHei"/>
              </a:rPr>
              <a:t>場　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56692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〔第 N 次說明會〕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spc="260">
                <a:solidFill>
                  <a:srgbClr val="10B981"/>
                </a:solidFill>
                <a:latin typeface="Inter"/>
                <a:ea typeface="Microsoft JhengHei"/>
                <a:cs typeface="Microsoft JhengHei"/>
              </a:rPr>
              <a:t>AGENDA · 本日議程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70432"/>
            <a:ext cx="640080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1C1A17"/>
                </a:solidFill>
                <a:latin typeface="Noto Serif TC"/>
                <a:ea typeface="Microsoft JhengHei"/>
                <a:cs typeface="Microsoft JhengHei"/>
              </a:rPr>
              <a:t>今天，我們會談這些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8833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517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為什麼要更新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99923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老屋風險與更新效益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83280"/>
            <a:ext cx="512064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2958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49300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基地與權屬現況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8404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區位、面積、權屬概況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24528"/>
            <a:ext cx="512064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7083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3342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法規路徑與容積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6817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都更／危老／防災、同意門檻、獎勵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65776"/>
            <a:ext cx="512064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1755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規劃願景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52297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量體、戶型、公設與停車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907024"/>
            <a:ext cx="512064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68833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6517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權利變換與分回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99923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共同負擔、分回比、常見迷思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383280"/>
            <a:ext cx="512064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52958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49300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時程藍圖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8404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從評估到交屋的里程碑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224528"/>
            <a:ext cx="512064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37083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3342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您的保障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6817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信託、續建機制、合約與透明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065776"/>
            <a:ext cx="512064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52120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1755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常見問答與下一步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52297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Q&amp;A、同意書、聯絡窗口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5907024"/>
            <a:ext cx="512064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spc="80">
                <a:solidFill>
                  <a:srgbClr val="A8A29E"/>
                </a:solidFill>
                <a:latin typeface="Inter"/>
                <a:ea typeface="Microsoft JhengHei"/>
                <a:cs typeface="Microsoft JhengHei"/>
              </a:rPr>
              <a:t>都市更新／危老重建 · 住戶說明會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1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200" b="1">
                <a:solidFill>
                  <a:srgbClr val="0C6149"/>
                </a:solidFill>
                <a:latin typeface="Noto Serif TC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spc="280">
                <a:solidFill>
                  <a:srgbClr val="A7F3D0"/>
                </a:solidFill>
                <a:latin typeface="Inter"/>
                <a:ea typeface="Microsoft JhengHei"/>
                <a:cs typeface="Microsoft JhengHei"/>
              </a:rPr>
              <a:t>WHY RENEWAL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>
                <a:solidFill>
                  <a:srgbClr val="FFFFFF"/>
                </a:solidFill>
                <a:latin typeface="Noto Serif TC"/>
                <a:ea typeface="Microsoft JhengHei"/>
                <a:cs typeface="Microsoft JhengHei"/>
              </a:rPr>
              <a:t>為什麼要更新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75488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D8E6DF"/>
                </a:solidFill>
                <a:latin typeface="Inter"/>
                <a:ea typeface="Microsoft JhengHei"/>
                <a:cs typeface="Microsoft JhengHei"/>
              </a:rPr>
              <a:t>更新不只是換新房子，而是把「安全、機能、資產價值」一次補齊。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spc="260">
                <a:solidFill>
                  <a:srgbClr val="10B981"/>
                </a:solidFill>
                <a:latin typeface="Inter"/>
                <a:ea typeface="Microsoft JhengHei"/>
                <a:cs typeface="Microsoft JhengHei"/>
              </a:rPr>
              <a:t>老屋的隱形成本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70432"/>
            <a:ext cx="640080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1C1A17"/>
                </a:solidFill>
                <a:latin typeface="Noto Serif TC"/>
                <a:ea typeface="Microsoft JhengHei"/>
                <a:cs typeface="Microsoft JhengHei"/>
              </a:rPr>
              <a:t>不更新，風險會一直累積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332018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3320186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651760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🏚️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072384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耐震不足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3419856"/>
            <a:ext cx="286298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早期建築標準較低，地震時結構風險高，補強有極限。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5754" y="2468880"/>
            <a:ext cx="332018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5754" y="2468880"/>
            <a:ext cx="3320186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3498" y="2651760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072384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管線老化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498" y="3419856"/>
            <a:ext cx="286298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漏水、壁癌、消防與電力負載不符現代需求。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8548" y="2468880"/>
            <a:ext cx="332018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8548" y="2468880"/>
            <a:ext cx="3320186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6292" y="2651760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292" y="3072384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機能落後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292" y="3419856"/>
            <a:ext cx="286298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無電梯、無車位、無無障礙，居住品質與轉手性下降。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334256"/>
            <a:ext cx="332018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334256"/>
            <a:ext cx="3320186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517136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4937760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資產停滯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5285232"/>
            <a:ext cx="286298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屋齡越高、增值越慢；更新可重塑資產價值。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5754" y="4334256"/>
            <a:ext cx="332018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5754" y="4334256"/>
            <a:ext cx="3320186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3498" y="4517136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🛡️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3498" y="4937760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安全升級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3498" y="5285232"/>
            <a:ext cx="286298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新制耐震、消防、無障礙、智慧管理一次到位。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8548" y="4334256"/>
            <a:ext cx="332018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8548" y="4334256"/>
            <a:ext cx="3320186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6292" y="4517136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292" y="4937760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世代資產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6292" y="5285232"/>
            <a:ext cx="286298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把老屋轉為可傳承、好出租、好自住的新資產。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spc="80">
                <a:solidFill>
                  <a:srgbClr val="A8A29E"/>
                </a:solidFill>
                <a:latin typeface="Inter"/>
                <a:ea typeface="Microsoft JhengHei"/>
                <a:cs typeface="Microsoft JhengHei"/>
              </a:rPr>
              <a:t>為什麼要更新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spc="260">
                <a:solidFill>
                  <a:srgbClr val="10B981"/>
                </a:solidFill>
                <a:latin typeface="Inter"/>
                <a:ea typeface="Microsoft JhengHei"/>
                <a:cs typeface="Microsoft JhengHei"/>
              </a:rPr>
              <a:t>基地現況 ·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70432"/>
            <a:ext cx="640080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1C1A17"/>
                </a:solidFill>
                <a:latin typeface="Noto Serif TC"/>
                <a:ea typeface="Microsoft JhengHei"/>
                <a:cs typeface="Microsoft JhengHei"/>
              </a:rPr>
              <a:t>我們的基地，條件如何？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8833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區位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517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〔行政區／路段〕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9992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生活機能、交通與學區概述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83280"/>
            <a:ext cx="566928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2958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面積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49300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〔基地面積 ㎡／坪〕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8404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更新單元範圍與地號筆數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24528"/>
            <a:ext cx="566928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7083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分區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3342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〔使用分區／容積率〕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6817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可建範圍的法定基礎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65776"/>
            <a:ext cx="566928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權屬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1755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〔所有權人戶數〕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52297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同意整合的分母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907024"/>
            <a:ext cx="566928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2651760"/>
            <a:ext cx="4480560" cy="2377440"/>
          </a:xfrm>
          <a:prstGeom prst="rect">
            <a:avLst/>
          </a:prstGeom>
          <a:solidFill>
            <a:srgbClr val="F5F3EE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2651760"/>
            <a:ext cx="50800" cy="237744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86600" y="2834640"/>
            <a:ext cx="1371600" cy="310896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28529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1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透明原則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3255264"/>
            <a:ext cx="396849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本頁所有數字以地政與使照文件為準，現場提供查詢方式。
我們承諾：對外說明、合約附件、送審文件——同一套數字、同一個版本。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spc="80">
                <a:solidFill>
                  <a:srgbClr val="A8A29E"/>
                </a:solidFill>
                <a:latin typeface="Inter"/>
                <a:ea typeface="Microsoft JhengHei"/>
                <a:cs typeface="Microsoft JhengHei"/>
              </a:rPr>
              <a:t>基地與權屬現況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1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200" b="1">
                <a:solidFill>
                  <a:srgbClr val="0C6149"/>
                </a:solidFill>
                <a:latin typeface="Noto Serif TC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spc="280">
                <a:solidFill>
                  <a:srgbClr val="A7F3D0"/>
                </a:solidFill>
                <a:latin typeface="Inter"/>
                <a:ea typeface="Microsoft JhengHei"/>
                <a:cs typeface="Microsoft JhengHei"/>
              </a:rPr>
              <a:t>LAW &amp; FLOOR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>
                <a:solidFill>
                  <a:srgbClr val="FFFFFF"/>
                </a:solidFill>
                <a:latin typeface="Noto Serif TC"/>
                <a:ea typeface="Microsoft JhengHei"/>
                <a:cs typeface="Microsoft JhengHei"/>
              </a:rPr>
              <a:t>法規路徑與容積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75488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D8E6DF"/>
                </a:solidFill>
                <a:latin typeface="Inter"/>
                <a:ea typeface="Microsoft JhengHei"/>
                <a:cs typeface="Microsoft JhengHei"/>
              </a:rPr>
              <a:t>走哪條路、要多少人同意、能爭取多少獎勵——先把規則講清楚。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spc="260">
                <a:solidFill>
                  <a:srgbClr val="10B981"/>
                </a:solidFill>
                <a:latin typeface="Inter"/>
                <a:ea typeface="Microsoft JhengHei"/>
                <a:cs typeface="Microsoft JhengHei"/>
              </a:rPr>
              <a:t>三條路徑，怎麼選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70432"/>
            <a:ext cx="640080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1C1A17"/>
                </a:solidFill>
                <a:latin typeface="Noto Serif TC"/>
                <a:ea typeface="Microsoft JhengHei"/>
                <a:cs typeface="Microsoft JhengHei"/>
              </a:rPr>
              <a:t>都更 · 危老 · 防災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332018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3320186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651760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都市更新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072384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多數決整合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3419856"/>
            <a:ext cx="286298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需達法定同意比例（依劃定方式而定），審議程序較完整，容積獎勵空間較大。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5754" y="2468880"/>
            <a:ext cx="332018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5754" y="2468880"/>
            <a:ext cx="3320186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3498" y="2651760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危老重建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072384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全體同意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498" y="3419856"/>
            <a:ext cx="286298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需 100% 同意、程序較快，適合戶數單純的基地；無須劃定更新單元。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8548" y="2468880"/>
            <a:ext cx="332018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8548" y="2468880"/>
            <a:ext cx="3320186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6292" y="2651760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防災型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292" y="3072384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時程獎勵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292" y="3419856"/>
            <a:ext cx="286298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具時程獎勵但有申請落日期限，越早送件越有利。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solidFill>
            <a:srgbClr val="F5F3EE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846320"/>
            <a:ext cx="50800" cy="100584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5029200"/>
            <a:ext cx="1371600" cy="310896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0474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1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提醒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5449824"/>
            <a:ext cx="10003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同意門檻與容積獎勵以現行條文為準，本頁為路徑概念說明；個案適用條件由專業團隊逐項查證後提供書面對照。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spc="80">
                <a:solidFill>
                  <a:srgbClr val="A8A29E"/>
                </a:solidFill>
                <a:latin typeface="Inter"/>
                <a:ea typeface="Microsoft JhengHei"/>
                <a:cs typeface="Microsoft JhengHei"/>
              </a:rPr>
              <a:t>法規路徑與容積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1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200" b="1">
                <a:solidFill>
                  <a:srgbClr val="0C6149"/>
                </a:solidFill>
                <a:latin typeface="Noto Serif TC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spc="280">
                <a:solidFill>
                  <a:srgbClr val="A7F3D0"/>
                </a:solidFill>
                <a:latin typeface="Inter"/>
                <a:ea typeface="Microsoft JhengHei"/>
                <a:cs typeface="Microsoft JhengHei"/>
              </a:rPr>
              <a:t>DESIGN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>
                <a:solidFill>
                  <a:srgbClr val="FFFFFF"/>
                </a:solidFill>
                <a:latin typeface="Noto Serif TC"/>
                <a:ea typeface="Microsoft JhengHei"/>
                <a:cs typeface="Microsoft JhengHei"/>
              </a:rPr>
              <a:t>規劃願景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75488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D8E6DF"/>
                </a:solidFill>
                <a:latin typeface="Inter"/>
                <a:ea typeface="Microsoft JhengHei"/>
                <a:cs typeface="Microsoft JhengHei"/>
              </a:rPr>
              <a:t>把基地條件，轉化成安全、好住、保值的新家。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spc="260">
                <a:solidFill>
                  <a:srgbClr val="10B981"/>
                </a:solidFill>
                <a:latin typeface="Inter"/>
                <a:ea typeface="Microsoft JhengHei"/>
                <a:cs typeface="Microsoft JhengHei"/>
              </a:rPr>
              <a:t>規劃重點 · 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70432"/>
            <a:ext cx="640080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1C1A17"/>
                </a:solidFill>
                <a:latin typeface="Noto Serif TC"/>
                <a:ea typeface="Microsoft JhengHei"/>
                <a:cs typeface="Microsoft JhengHei"/>
              </a:rPr>
              <a:t>新家會長這樣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8833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量體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517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〔地上 N 層／地下 N 層〕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9992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退縮、棟距與日照通風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83280"/>
            <a:ext cx="566928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2958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戶型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49300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〔坪型配置〕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8404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分回與銷售戶型規劃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24528"/>
            <a:ext cx="566928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7083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公設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3342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〔公設比／公設項目〕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6817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大廳、電梯、無障礙、社區設施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65776"/>
            <a:ext cx="566928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停車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1755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〔車位數／型式〕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52297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平面／機械、車道規劃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907024"/>
            <a:ext cx="566928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2651760"/>
            <a:ext cx="4480560" cy="2377440"/>
          </a:xfrm>
          <a:prstGeom prst="rect">
            <a:avLst/>
          </a:prstGeom>
          <a:solidFill>
            <a:srgbClr val="F5F3EE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2651760"/>
            <a:ext cx="50800" cy="237744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86600" y="2834640"/>
            <a:ext cx="1371600" cy="310896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28529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1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意象示意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3255264"/>
            <a:ext cx="396849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此處置入外觀透視、平面配置、公設意象圖。
提醒：示意圖以核定圖說為準，最終以建照與權變核定內容為依據。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spc="80">
                <a:solidFill>
                  <a:srgbClr val="A8A29E"/>
                </a:solidFill>
                <a:latin typeface="Inter"/>
                <a:ea typeface="Microsoft JhengHei"/>
                <a:cs typeface="Microsoft JhengHei"/>
              </a:rPr>
              <a:t>規劃願景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1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200" b="1">
                <a:solidFill>
                  <a:srgbClr val="0C6149"/>
                </a:solidFill>
                <a:latin typeface="Noto Serif TC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spc="280">
                <a:solidFill>
                  <a:srgbClr val="A7F3D0"/>
                </a:solidFill>
                <a:latin typeface="Inter"/>
                <a:ea typeface="Microsoft JhengHei"/>
                <a:cs typeface="Microsoft JhengHei"/>
              </a:rPr>
              <a:t>RIGHTS &amp; 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>
                <a:solidFill>
                  <a:srgbClr val="FFFFFF"/>
                </a:solidFill>
                <a:latin typeface="Noto Serif TC"/>
                <a:ea typeface="Microsoft JhengHei"/>
                <a:cs typeface="Microsoft JhengHei"/>
              </a:rPr>
              <a:t>權利變換與分回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75488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D8E6DF"/>
                </a:solidFill>
                <a:latin typeface="Inter"/>
                <a:ea typeface="Microsoft JhengHei"/>
                <a:cs typeface="Microsoft JhengHei"/>
              </a:rPr>
              <a:t>最關鍵的一頁：您出地、團隊出力，蓋好後怎麼分。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spc="260">
                <a:solidFill>
                  <a:srgbClr val="10B981"/>
                </a:solidFill>
                <a:latin typeface="Inter"/>
                <a:ea typeface="Microsoft JhengHei"/>
                <a:cs typeface="Microsoft JhengHei"/>
              </a:rPr>
              <a:t>分回的邏輯 · 示意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70432"/>
            <a:ext cx="640080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1C1A17"/>
                </a:solidFill>
                <a:latin typeface="Noto Serif TC"/>
                <a:ea typeface="Microsoft JhengHei"/>
                <a:cs typeface="Microsoft JhengHei"/>
              </a:rPr>
              <a:t>總價值，怎麼分？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97480"/>
            <a:ext cx="10515600" cy="914400"/>
          </a:xfrm>
          <a:prstGeom prst="roundRect">
            <a:avLst/>
          </a:prstGeom>
          <a:solidFill>
            <a:srgbClr val="E0DCD2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6309360" cy="91440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6309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600" b="1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共同負擔　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697480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60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住戶分回　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示意 · 非個案數字（實際比例依個案共同負擔而定）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274320" cy="274320"/>
          </a:xfrm>
          <a:prstGeom prst="rect">
            <a:avLst/>
          </a:prstGeom>
          <a:solidFill>
            <a:srgbClr val="064E3B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114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Noto Serif TC"/>
                <a:ea typeface="Microsoft JhengHei"/>
                <a:cs typeface="Microsoft JhengHei"/>
              </a:rPr>
              <a:t>共同負擔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工程・管維・權變・利息・稅捐・管理（六大科目）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160520"/>
            <a:ext cx="274320" cy="274320"/>
          </a:xfrm>
          <a:prstGeom prst="rect">
            <a:avLst/>
          </a:prstGeom>
          <a:solidFill>
            <a:srgbClr val="E0DCD2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14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Noto Serif TC"/>
                <a:ea typeface="Microsoft JhengHei"/>
                <a:cs typeface="Microsoft JhengHei"/>
              </a:rPr>
              <a:t>住戶分回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4805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＝ 1 − 共同負擔比；經估價師查核、主管機關核定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solidFill>
            <a:srgbClr val="F5F3EE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5212080"/>
            <a:ext cx="50800" cy="9144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51560" y="5394960"/>
            <a:ext cx="1371600" cy="310896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4132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1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破解迷思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5815584"/>
            <a:ext cx="100035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「一坪換一坪」是迷思——分回是「總價值 × 分回比」的結果，不是固定坪數承諾。實際分回以權利變換核定為準。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spc="80">
                <a:solidFill>
                  <a:srgbClr val="A8A29E"/>
                </a:solidFill>
                <a:latin typeface="Inter"/>
                <a:ea typeface="Microsoft JhengHei"/>
                <a:cs typeface="Microsoft JhengHei"/>
              </a:rPr>
              <a:t>權利變換與分回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spc="260">
                <a:solidFill>
                  <a:srgbClr val="10B981"/>
                </a:solidFill>
                <a:latin typeface="Inter"/>
                <a:ea typeface="Microsoft JhengHei"/>
                <a:cs typeface="Microsoft JhengHei"/>
              </a:rPr>
              <a:t>時程藍圖 ·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70432"/>
            <a:ext cx="640080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1C1A17"/>
                </a:solidFill>
                <a:latin typeface="Noto Serif TC"/>
                <a:ea typeface="Microsoft JhengHei"/>
                <a:cs typeface="Microsoft JhengHei"/>
              </a:rPr>
              <a:t>從評估到交屋，分四大階段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2499283" cy="4572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249928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1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前期評估 S1–S4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926080"/>
            <a:ext cx="2499283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054096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S1 基地權屬調查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438144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S2 法規容積試算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822192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S3 坪效量體規劃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06240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S4 投報財務評估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5123" y="2468880"/>
            <a:ext cx="2499283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5123" y="2560320"/>
            <a:ext cx="249928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1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整合 S5–S6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5123" y="2926080"/>
            <a:ext cx="2499283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9715" y="3054096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S5 說明會與意願整合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9715" y="3438144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S6 簽約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2468880"/>
            <a:ext cx="2499283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7287" y="2560320"/>
            <a:ext cx="249928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1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法定程序 S7–S8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7287" y="2926080"/>
            <a:ext cx="2499283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1879" y="3054096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S7 事業／權變送審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879" y="3438144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S8 審議・公展・核定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451" y="2468880"/>
            <a:ext cx="2499283" cy="4572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451" y="2560320"/>
            <a:ext cx="249928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1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執行 S9–S11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451" y="2926080"/>
            <a:ext cx="2499283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34043" y="3054096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S9 設計與發包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4043" y="3438144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S10 施工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043" y="3822192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S11 銷售・交屋・管委會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solidFill>
            <a:srgbClr val="F5F3EE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5120640"/>
            <a:ext cx="50800" cy="86868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51560" y="5303520"/>
            <a:ext cx="1371600" cy="310896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218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1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我們在這裡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5724144"/>
            <a:ext cx="1000353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目前階段：〔SN〕。每個階段都有明確產出物與檢核點，進度公開可查。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spc="80">
                <a:solidFill>
                  <a:srgbClr val="A8A29E"/>
                </a:solidFill>
                <a:latin typeface="Inter"/>
                <a:ea typeface="Microsoft JhengHei"/>
                <a:cs typeface="Microsoft JhengHei"/>
              </a:rPr>
              <a:t>時程藍圖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1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200" b="1">
                <a:solidFill>
                  <a:srgbClr val="0C6149"/>
                </a:solidFill>
                <a:latin typeface="Noto Serif TC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spc="280">
                <a:solidFill>
                  <a:srgbClr val="A7F3D0"/>
                </a:solidFill>
                <a:latin typeface="Inter"/>
                <a:ea typeface="Microsoft JhengHei"/>
                <a:cs typeface="Microsoft JhengHei"/>
              </a:rPr>
              <a:t>YOUR SAFEGUARDS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>
                <a:solidFill>
                  <a:srgbClr val="FFFFFF"/>
                </a:solidFill>
                <a:latin typeface="Noto Serif TC"/>
                <a:ea typeface="Microsoft JhengHei"/>
                <a:cs typeface="Microsoft JhengHei"/>
              </a:rPr>
              <a:t>您的保障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75488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D8E6DF"/>
                </a:solidFill>
                <a:latin typeface="Inter"/>
                <a:ea typeface="Microsoft JhengHei"/>
                <a:cs typeface="Microsoft JhengHei"/>
              </a:rPr>
              <a:t>把信任建立在「制度」上，而不是任何一家公司的口頭承諾。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spc="260">
                <a:solidFill>
                  <a:srgbClr val="10B981"/>
                </a:solidFill>
                <a:latin typeface="Inter"/>
                <a:ea typeface="Microsoft JhengHei"/>
                <a:cs typeface="Microsoft JhengHei"/>
              </a:rPr>
              <a:t>四道防線 · SAFEGUARDS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70432"/>
            <a:ext cx="640080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1C1A17"/>
                </a:solidFill>
                <a:latin typeface="Noto Serif TC"/>
                <a:ea typeface="Microsoft JhengHei"/>
                <a:cs typeface="Microsoft JhengHei"/>
              </a:rPr>
              <a:t>您的權益，靠制度保障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332018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3320186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651760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072384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信託專戶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3419856"/>
            <a:ext cx="286298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資金進信託、撥付綁里程碑，專款專用、不被挪用。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5754" y="2468880"/>
            <a:ext cx="332018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5754" y="2468880"/>
            <a:ext cx="3320186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3498" y="2651760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072384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續建機制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498" y="3419856"/>
            <a:ext cx="286298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萬一實施者出狀況，信託／融資機構可啟動續建、接管工程，您的權益優先受保障。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8548" y="2468880"/>
            <a:ext cx="332018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8548" y="2468880"/>
            <a:ext cx="3320186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6292" y="2651760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292" y="3072384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合約保障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292" y="3419856"/>
            <a:ext cx="286298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權利義務、違約責任、撤回與解約條件，白紙黑字、對等明確。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334256"/>
            <a:ext cx="332018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334256"/>
            <a:ext cx="3320186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517136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4937760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單一數源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5285232"/>
            <a:ext cx="286298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說明、合約、送審同版同源、日期戳記，逐戶分配可回算。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5754" y="4334256"/>
            <a:ext cx="332018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5754" y="4334256"/>
            <a:ext cx="3320186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3498" y="4517136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⚖️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3498" y="4937760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獨立估價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3498" y="5285232"/>
            <a:ext cx="286298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權變交由估價師查核、主管機關核定，非實施者自說自話。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8548" y="4334256"/>
            <a:ext cx="332018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8548" y="4334256"/>
            <a:ext cx="3320186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6292" y="4517136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292" y="4937760"/>
            <a:ext cx="28629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程序公開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6292" y="5285232"/>
            <a:ext cx="286298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審議、公展、核定皆公開可查，重大事項留痕。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spc="80">
                <a:solidFill>
                  <a:srgbClr val="A8A29E"/>
                </a:solidFill>
                <a:latin typeface="Inter"/>
                <a:ea typeface="Microsoft JhengHei"/>
                <a:cs typeface="Microsoft JhengHei"/>
              </a:rPr>
              <a:t>您的保障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spc="260">
                <a:solidFill>
                  <a:srgbClr val="10B981"/>
                </a:solidFill>
                <a:latin typeface="Inter"/>
                <a:ea typeface="Microsoft JhengHei"/>
                <a:cs typeface="Microsoft JhengHei"/>
              </a:rPr>
              <a:t>常見問答 · FAQ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70432"/>
            <a:ext cx="640080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1C1A17"/>
                </a:solidFill>
                <a:latin typeface="Noto Serif TC"/>
                <a:ea typeface="Microsoft JhengHei"/>
                <a:cs typeface="Microsoft JhengHei"/>
              </a:rPr>
              <a:t>大家最常問的事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51176"/>
            <a:ext cx="38100" cy="9144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514600"/>
            <a:ext cx="476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064E3B"/>
                </a:solidFill>
                <a:latin typeface="Inter"/>
                <a:ea typeface="Microsoft JhengHei"/>
                <a:cs typeface="Microsoft JhengHei"/>
              </a:rPr>
              <a:t>Q. 現在簽的是什麼？會不會被綁死？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916936"/>
            <a:ext cx="476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同意整合與正式合約是不同階段；授權範圍、撤回與解約條件都會逐條說明，您看懂再簽。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7" y="2551176"/>
            <a:ext cx="38100" cy="9144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5615" y="2514600"/>
            <a:ext cx="476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064E3B"/>
                </a:solidFill>
                <a:latin typeface="Inter"/>
                <a:ea typeface="Microsoft JhengHei"/>
                <a:cs typeface="Microsoft JhengHei"/>
              </a:rPr>
              <a:t>Q. 萬一建商蓋到一半跑了？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5615" y="2916936"/>
            <a:ext cx="476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這正是信託＋續建機制要解決的問題：由制度接手續建，權益優先保障。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85616"/>
            <a:ext cx="38100" cy="9144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749040"/>
            <a:ext cx="476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064E3B"/>
                </a:solidFill>
                <a:latin typeface="Inter"/>
                <a:ea typeface="Microsoft JhengHei"/>
                <a:cs typeface="Microsoft JhengHei"/>
              </a:rPr>
              <a:t>Q. 真的能「一坪換一坪」嗎？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151376"/>
            <a:ext cx="476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分回是總價值×分回比的結果，視共同負擔而定；我們提供透明試算，不做不實承諾。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4447" y="3785616"/>
            <a:ext cx="38100" cy="9144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5615" y="3749040"/>
            <a:ext cx="476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064E3B"/>
                </a:solidFill>
                <a:latin typeface="Inter"/>
                <a:ea typeface="Microsoft JhengHei"/>
                <a:cs typeface="Microsoft JhengHei"/>
              </a:rPr>
              <a:t>Q. 我可以不參加嗎？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5615" y="4151376"/>
            <a:ext cx="476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更新採法定同意門檻；達門檻後依權利變換處理，過程有估價與安置等法定保障。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020056"/>
            <a:ext cx="38100" cy="9144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983480"/>
            <a:ext cx="476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064E3B"/>
                </a:solidFill>
                <a:latin typeface="Inter"/>
                <a:ea typeface="Microsoft JhengHei"/>
                <a:cs typeface="Microsoft JhengHei"/>
              </a:rPr>
              <a:t>Q. 數字會不會說一套做一套？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5385816"/>
            <a:ext cx="476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我們承諾單一數源：對外、合約、送審同一版本，逐戶分配回算一致。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4447" y="5020056"/>
            <a:ext cx="38100" cy="9144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5615" y="4983480"/>
            <a:ext cx="476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064E3B"/>
                </a:solidFill>
                <a:latin typeface="Inter"/>
                <a:ea typeface="Microsoft JhengHei"/>
                <a:cs typeface="Microsoft JhengHei"/>
              </a:rPr>
              <a:t>Q. 要多久？現在到哪了？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5615" y="5385816"/>
            <a:ext cx="476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依四大階段推進，目前在〔SN〕；每階段產出與檢核點公開可查。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spc="80">
                <a:solidFill>
                  <a:srgbClr val="A8A29E"/>
                </a:solidFill>
                <a:latin typeface="Inter"/>
                <a:ea typeface="Microsoft JhengHei"/>
                <a:cs typeface="Microsoft JhengHei"/>
              </a:rPr>
              <a:t>常見問答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spc="260">
                <a:solidFill>
                  <a:srgbClr val="10B981"/>
                </a:solidFill>
                <a:latin typeface="Inter"/>
                <a:ea typeface="Microsoft JhengHei"/>
                <a:cs typeface="Microsoft JhengHei"/>
              </a:rPr>
              <a:t>下一步 ·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70432"/>
            <a:ext cx="640080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1C1A17"/>
                </a:solidFill>
                <a:latin typeface="Noto Serif TC"/>
                <a:ea typeface="Microsoft JhengHei"/>
                <a:cs typeface="Microsoft JhengHei"/>
              </a:rPr>
              <a:t>接下來，這樣進行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8833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517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領取資料包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9992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說明簡報、Q&amp;A、同意書與條文對照表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83280"/>
            <a:ext cx="566928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2958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49300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個別諮詢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8404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一對一說明您的權屬與分回試算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24528"/>
            <a:ext cx="566928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7083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3342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看懂再簽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6817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確認授權範圍與保障條款後，再決定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65776"/>
            <a:ext cx="566928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64E3B"/>
                </a:solidFill>
                <a:latin typeface="Noto Serif TC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1755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持續更新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52297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44403C"/>
                </a:solidFill>
                <a:latin typeface="Inter"/>
                <a:ea typeface="Microsoft JhengHei"/>
                <a:cs typeface="Microsoft JhengHei"/>
              </a:rPr>
              <a:t>進度、審議結果、財務調整即時公開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907024"/>
            <a:ext cx="566928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2651760"/>
            <a:ext cx="4480560" cy="2377440"/>
          </a:xfrm>
          <a:prstGeom prst="rect">
            <a:avLst/>
          </a:prstGeom>
          <a:solidFill>
            <a:srgbClr val="F5F3EE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2651760"/>
            <a:ext cx="5080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86600" y="2834640"/>
            <a:ext cx="1371600" cy="31089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28529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1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給您的承諾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3255264"/>
            <a:ext cx="396849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1C1A17"/>
                </a:solidFill>
                <a:latin typeface="Inter"/>
                <a:ea typeface="Microsoft JhengHei"/>
                <a:cs typeface="Microsoft JhengHei"/>
              </a:rPr>
              <a:t>我們寧可多花時間把疑慮講清楚，也不催促您簽下看不懂的文件。
專業的質疑，是把案子做好的養分。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spc="80">
                <a:solidFill>
                  <a:srgbClr val="A8A29E"/>
                </a:solidFill>
                <a:latin typeface="Inter"/>
                <a:ea typeface="Microsoft JhengHei"/>
                <a:cs typeface="Microsoft JhengHei"/>
              </a:rPr>
              <a:t>下一步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292608"/>
            <a:ext cx="11423599" cy="6272784"/>
          </a:xfrm>
          <a:prstGeom prst="rect">
            <a:avLst/>
          </a:prstGeom>
          <a:noFill/>
          <a:ln w="9525">
            <a:solidFill>
              <a:srgbClr val="1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 spc="300">
                <a:solidFill>
                  <a:srgbClr val="A7F3D0"/>
                </a:solidFill>
                <a:latin typeface="Inter"/>
                <a:ea typeface="Microsoft JhengHei"/>
                <a:cs typeface="Microsoft JhengHe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4400" b="1">
                <a:solidFill>
                  <a:srgbClr val="FFFFFF"/>
                </a:solidFill>
                <a:latin typeface="Noto Serif TC"/>
                <a:ea typeface="Microsoft JhengHei"/>
                <a:cs typeface="Microsoft JhengHei"/>
              </a:rPr>
              <a:t>謝謝您的參與</a:t>
            </a:r>
          </a:p>
        </p:txBody>
      </p:sp>
      <p:sp>
        <p:nvSpPr>
          <p:cNvPr id="7" name="Rectangle 6"/>
          <p:cNvSpPr/>
          <p:nvPr/>
        </p:nvSpPr>
        <p:spPr>
          <a:xfrm>
            <a:off x="5775807" y="3840480"/>
            <a:ext cx="64008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114800"/>
            <a:ext cx="8897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D8E6DF"/>
                </a:solidFill>
                <a:latin typeface="Inter"/>
                <a:ea typeface="Microsoft JhengHei"/>
                <a:cs typeface="Microsoft JhengHei"/>
              </a:rPr>
              <a:t>您的每一個問題，都讓這個案子更穩健。歡迎於會後一對一諮詢。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52120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0">
                <a:solidFill>
                  <a:srgbClr val="9FBAAC"/>
                </a:solidFill>
                <a:latin typeface="Inter"/>
                <a:ea typeface="Microsoft JhengHei"/>
                <a:cs typeface="Microsoft JhengHei"/>
              </a:rPr>
              <a:t>窗口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54864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A7F3D0"/>
                </a:solidFill>
                <a:latin typeface="Inter"/>
                <a:ea typeface="Microsoft JhengHei"/>
                <a:cs typeface="Microsoft JhengHei"/>
              </a:rPr>
              <a:t>〔整合專員／電話〕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52120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0">
                <a:solidFill>
                  <a:srgbClr val="9FBAAC"/>
                </a:solidFill>
                <a:latin typeface="Inter"/>
                <a:ea typeface="Microsoft JhengHei"/>
                <a:cs typeface="Microsoft JhengHei"/>
              </a:rPr>
              <a:t>實施者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54864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A7F3D0"/>
                </a:solidFill>
                <a:latin typeface="Inter"/>
                <a:ea typeface="Microsoft JhengHei"/>
                <a:cs typeface="Microsoft JhengHei"/>
              </a:rPr>
              <a:t>〔更新會／實施者〕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52120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0">
                <a:solidFill>
                  <a:srgbClr val="9FBAAC"/>
                </a:solidFill>
                <a:latin typeface="Inter"/>
                <a:ea typeface="Microsoft JhengHei"/>
                <a:cs typeface="Microsoft JhengHei"/>
              </a:rPr>
              <a:t>諮詢時間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4864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A7F3D0"/>
                </a:solidFill>
                <a:latin typeface="Inter"/>
                <a:ea typeface="Microsoft JhengHei"/>
                <a:cs typeface="Microsoft JhengHei"/>
              </a:rPr>
              <a:t>〔時段／地點〕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